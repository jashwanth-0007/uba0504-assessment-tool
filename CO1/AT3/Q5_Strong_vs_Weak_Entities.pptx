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81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F9E79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ER Modeling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entity types that stand alone with entities that depend on another for identity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Jashwanth.G.R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(192524384),B.tech AIDS</a:t>
            </a:r>
            <a:endParaRPr lang="en-US" sz="1300" dirty="0"/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96C4D51F-B871-8FF1-9073-9B7F97EF31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12" name="object 7">
            <a:extLst>
              <a:ext uri="{FF2B5EF4-FFF2-40B4-BE49-F238E27FC236}">
                <a16:creationId xmlns:a16="http://schemas.microsoft.com/office/drawing/2014/main" id="{716EF863-852E-1545-8301-2E5D9179BB1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5144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Entities in ER Modeling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 attribute and can be uniquely identified without relying on any other entity.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primary key of its own; it depends on a related 'owner' (identifying) entity for unique identification.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connecting a weak entity to its owner — drawn with a double diamond in ER notation.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discriminator attribute that, combined with the owner's key, uniquely identifies each weak entity instance.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D8B5B505-6D2A-A085-48D5-D9DC6C368E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5" name="object 7">
            <a:extLst>
              <a:ext uri="{FF2B5EF4-FFF2-40B4-BE49-F238E27FC236}">
                <a16:creationId xmlns:a16="http://schemas.microsoft.com/office/drawing/2014/main" id="{6105D4D1-84F2-07CD-1C03-DB92A0A015D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999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Strong and Weak Entities Are Drawn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834640"/>
            <a:ext cx="1920240" cy="685800"/>
          </a:xfrm>
          <a:prstGeom prst="rect">
            <a:avLst/>
          </a:prstGeom>
          <a:solidFill>
            <a:srgbClr val="F96167"/>
          </a:solidFill>
          <a:ln w="19050">
            <a:solidFill>
              <a:srgbClr val="3A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2331720"/>
            <a:ext cx="0" cy="502920"/>
          </a:xfrm>
          <a:prstGeom prst="line">
            <a:avLst/>
          </a:prstGeom>
          <a:noFill/>
          <a:ln w="19050">
            <a:solidFill>
              <a:srgbClr val="7A5A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668780"/>
            <a:ext cx="1554480" cy="594360"/>
          </a:xfrm>
          <a:prstGeom prst="ellipse">
            <a:avLst/>
          </a:prstGeom>
          <a:solidFill>
            <a:srgbClr val="FFF3F0"/>
          </a:solidFill>
          <a:ln w="12700">
            <a:solidFill>
              <a:srgbClr val="7A5A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687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(key)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flipV="1">
            <a:off x="2926080" y="2377440"/>
            <a:ext cx="457200" cy="457200"/>
          </a:xfrm>
          <a:prstGeom prst="line">
            <a:avLst/>
          </a:prstGeom>
          <a:noFill/>
          <a:ln w="19050">
            <a:solidFill>
              <a:srgbClr val="7A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828800"/>
            <a:ext cx="1371600" cy="548640"/>
          </a:xfrm>
          <a:prstGeom prst="ellipse">
            <a:avLst/>
          </a:prstGeom>
          <a:solidFill>
            <a:srgbClr val="FFF3F0"/>
          </a:solidFill>
          <a:ln w="12700">
            <a:solidFill>
              <a:srgbClr val="7A5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2807208"/>
            <a:ext cx="1517904" cy="92354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1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880360"/>
            <a:ext cx="1371600" cy="777240"/>
          </a:xfrm>
          <a:prstGeom prst="diamond">
            <a:avLst/>
          </a:prstGeom>
          <a:solidFill>
            <a:srgbClr val="2F3C7E"/>
          </a:solidFill>
          <a:ln w="19050">
            <a:solidFill>
              <a:srgbClr val="3A1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3177540"/>
            <a:ext cx="320040" cy="91440"/>
          </a:xfrm>
          <a:prstGeom prst="line">
            <a:avLst/>
          </a:prstGeom>
          <a:noFill/>
          <a:ln w="19050">
            <a:solidFill>
              <a:srgbClr val="7A5A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2770632"/>
            <a:ext cx="2139696" cy="813816"/>
          </a:xfrm>
          <a:prstGeom prst="rect">
            <a:avLst/>
          </a:prstGeom>
          <a:solidFill>
            <a:srgbClr val="FFFFFF"/>
          </a:solidFill>
          <a:ln w="19050">
            <a:solidFill>
              <a:srgbClr val="3A1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834640"/>
            <a:ext cx="2011680" cy="685800"/>
          </a:xfrm>
          <a:prstGeom prst="rect">
            <a:avLst/>
          </a:prstGeom>
          <a:solidFill>
            <a:srgbClr val="F9E795"/>
          </a:solidFill>
          <a:ln w="19050">
            <a:solidFill>
              <a:srgbClr val="3A1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834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V="1">
            <a:off x="4617720" y="3177540"/>
            <a:ext cx="457200" cy="91440"/>
          </a:xfrm>
          <a:prstGeom prst="line">
            <a:avLst/>
          </a:prstGeom>
          <a:noFill/>
          <a:ln w="19050">
            <a:solidFill>
              <a:srgbClr val="7A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331720"/>
            <a:ext cx="0" cy="502920"/>
          </a:xfrm>
          <a:prstGeom prst="line">
            <a:avLst/>
          </a:prstGeom>
          <a:noFill/>
          <a:ln w="19050">
            <a:solidFill>
              <a:srgbClr val="7A5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668780"/>
            <a:ext cx="1737360" cy="594360"/>
          </a:xfrm>
          <a:prstGeom prst="ellipse">
            <a:avLst/>
          </a:prstGeom>
          <a:solidFill>
            <a:srgbClr val="FFF3F0"/>
          </a:solidFill>
          <a:ln w="12700">
            <a:solidFill>
              <a:srgbClr val="7A5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6687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Dep_Name (partial key)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flipV="1">
            <a:off x="7086600" y="2377440"/>
            <a:ext cx="457200" cy="457200"/>
          </a:xfrm>
          <a:prstGeom prst="line">
            <a:avLst/>
          </a:prstGeom>
          <a:noFill/>
          <a:ln w="19050">
            <a:solidFill>
              <a:srgbClr val="7A5A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1828800"/>
            <a:ext cx="1188720" cy="548640"/>
          </a:xfrm>
          <a:prstGeom prst="ellipse">
            <a:avLst/>
          </a:prstGeom>
          <a:solidFill>
            <a:srgbClr val="FFF3F0"/>
          </a:solidFill>
          <a:ln w="12700">
            <a:solidFill>
              <a:srgbClr val="7A5A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10607040" cy="2148840"/>
          </a:xfrm>
          <a:prstGeom prst="roundRect">
            <a:avLst>
              <a:gd name="adj" fmla="val 5106"/>
            </a:avLst>
          </a:prstGeom>
          <a:solidFill>
            <a:srgbClr val="FFF3F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20624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diagram:  </a:t>
            </a:r>
            <a:r>
              <a:rPr lang="en-US" sz="125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is a strong entity with its own key, Emp_ID. DEPENDENT cannot exist without an EMPLOYEE — it is drawn with a double-outlined rectangle, connected through the double-diamond identifying relationship HAS. Its Dep_Name is only a partial key: two dependents can share a name, but not under the same employee, so the true unique identifier is (Emp_ID, Dep_Name).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pic>
        <p:nvPicPr>
          <p:cNvPr id="31" name="object 6">
            <a:extLst>
              <a:ext uri="{FF2B5EF4-FFF2-40B4-BE49-F238E27FC236}">
                <a16:creationId xmlns:a16="http://schemas.microsoft.com/office/drawing/2014/main" id="{886CC3D0-81DC-EFF9-9D6C-9AE3FD15AD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33" name="object 7">
            <a:extLst>
              <a:ext uri="{FF2B5EF4-FFF2-40B4-BE49-F238E27FC236}">
                <a16:creationId xmlns:a16="http://schemas.microsoft.com/office/drawing/2014/main" id="{943FA842-C2EA-C615-91ED-9288E1B802C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4712" y="10287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 vs. Weak Entity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FF3F0"/>
          </a:solidFill>
          <a:ln w="12700">
            <a:solidFill>
              <a:srgbClr val="F96167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 — fully self-identifying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single-outline rectangle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does not depend on any other entity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EMPLOYEE, BOOK, CUSTOMER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4F6F8"/>
          </a:solidFill>
          <a:ln w="12700">
            <a:solidFill>
              <a:srgbClr val="F96167">
                <a:alpha val="40000"/>
              </a:srgbClr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primary key of its own — only a partial key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double-outline rectangle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depends entirely on its owner (strong) entity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DEPENDENT (of Employee), ROOM (of Hotel Building)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owner entity is deleted, every related weak entity instance is deleted too — this is enforced with ON DELETE CASCADE in the relational schema.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AC3ECA6A-A1E7-D88E-6034-8B334D7F32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0" name="object 7">
            <a:extLst>
              <a:ext uri="{FF2B5EF4-FFF2-40B4-BE49-F238E27FC236}">
                <a16:creationId xmlns:a16="http://schemas.microsoft.com/office/drawing/2014/main" id="{2EC8E2FB-980D-FCD1-8708-1A8DA2DEA7E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F9E795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117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Strong and Weak Entities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first: can this entity be uniquely identified on its own? If yes, it is strong.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7980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entity always needs an identifying relationship with its owner to make sense.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8221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 ORDER_ITEM depends on ORDER; ROOM depends on BUILDING; DEPENDENT depends on EMPLOYEE.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846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spotting weak entities avoids duplicate or orphaned data in the final relational schema.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0624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strong from weak entities is a small step in ER modeling with a big impact on data integrity.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4B63824E-8489-247D-AA15-4603CD7693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3" name="object 7">
            <a:extLst>
              <a:ext uri="{FF2B5EF4-FFF2-40B4-BE49-F238E27FC236}">
                <a16:creationId xmlns:a16="http://schemas.microsoft.com/office/drawing/2014/main" id="{BB3632C0-4FE1-EE3C-0B9E-57F3961F285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531</Words>
  <Application>Microsoft Office PowerPoint</Application>
  <PresentationFormat>Widescreen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jashwanth raghu</cp:lastModifiedBy>
  <cp:revision>2</cp:revision>
  <dcterms:created xsi:type="dcterms:W3CDTF">2026-07-22T15:45:34Z</dcterms:created>
  <dcterms:modified xsi:type="dcterms:W3CDTF">2026-07-23T03:22:03Z</dcterms:modified>
</cp:coreProperties>
</file>