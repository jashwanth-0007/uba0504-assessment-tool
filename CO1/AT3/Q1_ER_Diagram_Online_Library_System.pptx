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628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355" y="1279847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95355" y="1279847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for an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Library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entities, attributes and relationships to model a real-world library case study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By,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Jashwanth.G.R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(192524384),B.tech AIDS</a:t>
            </a:r>
            <a:endParaRPr lang="en-US" sz="1300" dirty="0"/>
          </a:p>
        </p:txBody>
      </p:sp>
      <p:pic>
        <p:nvPicPr>
          <p:cNvPr id="12" name="object 7">
            <a:extLst>
              <a:ext uri="{FF2B5EF4-FFF2-40B4-BE49-F238E27FC236}">
                <a16:creationId xmlns:a16="http://schemas.microsoft.com/office/drawing/2014/main" id="{2E0E84BA-5910-B2BC-6F02-6DB766EB67E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  <p:pic>
        <p:nvPicPr>
          <p:cNvPr id="16" name="object 6">
            <a:extLst>
              <a:ext uri="{FF2B5EF4-FFF2-40B4-BE49-F238E27FC236}">
                <a16:creationId xmlns:a16="http://schemas.microsoft.com/office/drawing/2014/main" id="{071FFE97-ED50-92A1-2C19-3C7F6A83B28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23093" y="8503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ER Diagram?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45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object or concept that has independent existence and is stored as data — e.g. Book, Member, Author.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5968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443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that describes an entity, such as ISBN, Title, or Member_ID; underlined attributes form the primary key.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484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9592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association between two or more entities, e.g. a Member BORROWS a Book, capturing how records interact.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7000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474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many instances of one entity relate to another — one-to-one, one-to-many, or many-to-many.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pic>
        <p:nvPicPr>
          <p:cNvPr id="23" name="object 6">
            <a:extLst>
              <a:ext uri="{FF2B5EF4-FFF2-40B4-BE49-F238E27FC236}">
                <a16:creationId xmlns:a16="http://schemas.microsoft.com/office/drawing/2014/main" id="{9B18307A-F6E5-50A0-4E1C-8632940EFE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5" name="object 7">
            <a:extLst>
              <a:ext uri="{FF2B5EF4-FFF2-40B4-BE49-F238E27FC236}">
                <a16:creationId xmlns:a16="http://schemas.microsoft.com/office/drawing/2014/main" id="{874522DD-FAF0-4404-6D10-60FBACA5B4E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44075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Identified for the Library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E3F6F5"/>
          </a:solidFill>
          <a:ln w="12700">
            <a:solidFill>
              <a:srgbClr val="028090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Entities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— library user who borrows books (Member_ID, Name, Email, Phone)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catalog item available for lending (ISBN, Title, Genre, Copies)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4F6F8"/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116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Entities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— writer linked to one or more books (Author_ID, Name)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— organisation that publishes a book (Publisher_ID, Name, Address)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connect these entities: MEMBER —BORROWS— BOOK, BOOK —WRITTEN_BY— AUTHOR, BOOK —PUBLISHED_BY— PUBLISHER.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pic>
        <p:nvPicPr>
          <p:cNvPr id="22" name="object 6">
            <a:extLst>
              <a:ext uri="{FF2B5EF4-FFF2-40B4-BE49-F238E27FC236}">
                <a16:creationId xmlns:a16="http://schemas.microsoft.com/office/drawing/2014/main" id="{4286B34D-D181-FF9E-CC60-0A743080048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4" name="object 7">
            <a:extLst>
              <a:ext uri="{FF2B5EF4-FFF2-40B4-BE49-F238E27FC236}">
                <a16:creationId xmlns:a16="http://schemas.microsoft.com/office/drawing/2014/main" id="{DF0A2EA5-1AC2-EED4-FA7A-326255A8D6C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3784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Online Library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06040" y="1783080"/>
            <a:ext cx="1371600" cy="822960"/>
          </a:xfrm>
          <a:prstGeom prst="diamond">
            <a:avLst/>
          </a:prstGeom>
          <a:solidFill>
            <a:srgbClr val="02C39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WRITTEN_BY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92040" y="1874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1783080"/>
            <a:ext cx="1463040" cy="822960"/>
          </a:xfrm>
          <a:prstGeom prst="diamond">
            <a:avLst/>
          </a:prstGeom>
          <a:solidFill>
            <a:srgbClr val="02C39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PUBLISHED_BY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15400" y="1874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0" y="2194560"/>
            <a:ext cx="320040" cy="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2194560"/>
            <a:ext cx="914400" cy="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2194560"/>
            <a:ext cx="365760" cy="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194560"/>
            <a:ext cx="365760" cy="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262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26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51760" y="4434840"/>
            <a:ext cx="1371600" cy="822960"/>
          </a:xfrm>
          <a:prstGeom prst="diamond">
            <a:avLst/>
          </a:prstGeom>
          <a:solidFill>
            <a:srgbClr val="02C39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4434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77440" y="4846320"/>
            <a:ext cx="274320" cy="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023360" y="2514600"/>
            <a:ext cx="1783080" cy="233172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6840" y="45720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3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4572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Attrs: Publisher_ID, Name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06840" y="50749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3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5074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Attrs: Author_ID, Name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3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349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Member_ID, Name, Email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743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3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ISBN, Title, Genre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829800" y="2514600"/>
            <a:ext cx="0" cy="205740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2514600"/>
            <a:ext cx="914400" cy="201168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15400" y="2194560"/>
            <a:ext cx="1188720" cy="288036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2514600"/>
            <a:ext cx="0" cy="228600"/>
          </a:xfrm>
          <a:prstGeom prst="line">
            <a:avLst/>
          </a:prstGeom>
          <a:noFill/>
          <a:ln w="19050">
            <a:solidFill>
              <a:srgbClr val="5E7A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989320"/>
            <a:ext cx="274320" cy="20116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943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920240" y="5943600"/>
            <a:ext cx="320040" cy="256032"/>
          </a:xfrm>
          <a:prstGeom prst="diamond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5943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77640" y="59436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5943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set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pic>
        <p:nvPicPr>
          <p:cNvPr id="47" name="object 6">
            <a:extLst>
              <a:ext uri="{FF2B5EF4-FFF2-40B4-BE49-F238E27FC236}">
                <a16:creationId xmlns:a16="http://schemas.microsoft.com/office/drawing/2014/main" id="{B3417F5E-77BB-383B-E215-C178C583B7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49" name="object 7">
            <a:extLst>
              <a:ext uri="{FF2B5EF4-FFF2-40B4-BE49-F238E27FC236}">
                <a16:creationId xmlns:a16="http://schemas.microsoft.com/office/drawing/2014/main" id="{C263D390-5528-73FF-A463-81721A557C6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206240" cy="4206240"/>
          </a:xfrm>
          <a:prstGeom prst="ellipse">
            <a:avLst/>
          </a:prstGeom>
          <a:solidFill>
            <a:srgbClr val="00A896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715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1727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the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77393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and BOOK are the two core entities that drive every library transaction.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7980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 captures which member currently holds which book, including issue and due dates.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7705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8221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and PUBLISHER enrich the catalog without duplicating data inside the BOOK entity.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846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ER design can be mapped directly into relational tables with foreign keys for implementation.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0624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3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ER diagram is the blueprint that turns a real-world library process into a reliable database schema.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pic>
        <p:nvPicPr>
          <p:cNvPr id="23" name="object 6">
            <a:extLst>
              <a:ext uri="{FF2B5EF4-FFF2-40B4-BE49-F238E27FC236}">
                <a16:creationId xmlns:a16="http://schemas.microsoft.com/office/drawing/2014/main" id="{D4145E52-05DC-17B0-8019-397691FCDA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5" name="object 7">
            <a:extLst>
              <a:ext uri="{FF2B5EF4-FFF2-40B4-BE49-F238E27FC236}">
                <a16:creationId xmlns:a16="http://schemas.microsoft.com/office/drawing/2014/main" id="{05B0CA87-9ECB-FC93-900F-53ECBE58EE9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464</Words>
  <Application>Microsoft Office PowerPoint</Application>
  <PresentationFormat>Widescreen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jashwanth raghu</cp:lastModifiedBy>
  <cp:revision>2</cp:revision>
  <dcterms:created xsi:type="dcterms:W3CDTF">2026-07-21T13:32:00Z</dcterms:created>
  <dcterms:modified xsi:type="dcterms:W3CDTF">2026-07-23T03:07:37Z</dcterms:modified>
</cp:coreProperties>
</file>