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7"/>
  </p:notesMasterIdLst>
  <p:sldIdLst>
    <p:sldId id="256" r:id="rId2"/>
    <p:sldId id="257" r:id="rId3"/>
    <p:sldId id="258" r:id="rId4"/>
    <p:sldId id="259" r:id="rId5"/>
    <p:sldId id="260" r:id="rId6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89" d="100"/>
          <a:sy n="89" d="100"/>
        </p:scale>
        <p:origin x="662" y="53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63423327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36454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692640" y="-1188720"/>
            <a:ext cx="3840480" cy="3840480"/>
          </a:xfrm>
          <a:prstGeom prst="ellipse">
            <a:avLst/>
          </a:prstGeom>
          <a:solidFill>
            <a:srgbClr val="8FA1AC">
              <a:alpha val="30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10881360" y="4206240"/>
            <a:ext cx="2743200" cy="2743200"/>
          </a:xfrm>
          <a:prstGeom prst="ellipse">
            <a:avLst/>
          </a:prstGeom>
          <a:solidFill>
            <a:srgbClr val="3E92CC">
              <a:alpha val="45000"/>
            </a:srgbClr>
          </a:solidFill>
          <a:ln/>
        </p:spPr>
      </p:sp>
      <p:sp>
        <p:nvSpPr>
          <p:cNvPr id="5" name="Text 3"/>
          <p:cNvSpPr/>
          <p:nvPr/>
        </p:nvSpPr>
        <p:spPr>
          <a:xfrm>
            <a:off x="640080" y="640080"/>
            <a:ext cx="2103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640080" y="2377440"/>
            <a:ext cx="960120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Software Components</a:t>
            </a:r>
            <a:endParaRPr lang="en-US" sz="4000" dirty="0"/>
          </a:p>
          <a:p>
            <a:pPr marL="0" indent="0" algn="l">
              <a:lnSpc>
                <a:spcPct val="105000"/>
              </a:lnSpc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of a DBMS</a:t>
            </a:r>
            <a:endParaRPr lang="en-US" sz="4000" dirty="0"/>
          </a:p>
        </p:txBody>
      </p:sp>
      <p:sp>
        <p:nvSpPr>
          <p:cNvPr id="7" name="Text 5"/>
          <p:cNvSpPr/>
          <p:nvPr/>
        </p:nvSpPr>
        <p:spPr>
          <a:xfrm>
            <a:off x="640080" y="4343400"/>
            <a:ext cx="8686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800" dirty="0">
                <a:solidFill>
                  <a:srgbClr val="8FA1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Walking through the query processor, storage manager, and transaction manager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640080" y="5943600"/>
            <a:ext cx="9875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30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Done By, </a:t>
            </a:r>
            <a:r>
              <a:rPr lang="en-US" sz="1300" b="1" dirty="0" err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Jashwanth.G.R</a:t>
            </a: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(192524384),B.tech AIDS</a:t>
            </a:r>
            <a:endParaRPr lang="en-US" sz="1300" dirty="0"/>
          </a:p>
        </p:txBody>
      </p:sp>
      <p:pic>
        <p:nvPicPr>
          <p:cNvPr id="10" name="object 6">
            <a:extLst>
              <a:ext uri="{FF2B5EF4-FFF2-40B4-BE49-F238E27FC236}">
                <a16:creationId xmlns:a16="http://schemas.microsoft.com/office/drawing/2014/main" id="{8F023C89-D1E6-94E5-ABDE-06E7D0C248EC}"/>
              </a:ext>
            </a:extLst>
          </p:cNvPr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201168" y="114613"/>
            <a:ext cx="1005840" cy="891227"/>
          </a:xfrm>
          <a:prstGeom prst="rect">
            <a:avLst/>
          </a:prstGeom>
        </p:spPr>
      </p:pic>
      <p:pic>
        <p:nvPicPr>
          <p:cNvPr id="12" name="object 7">
            <a:extLst>
              <a:ext uri="{FF2B5EF4-FFF2-40B4-BE49-F238E27FC236}">
                <a16:creationId xmlns:a16="http://schemas.microsoft.com/office/drawing/2014/main" id="{54B38813-DA72-14FA-8876-D6B74B687D1A}"/>
              </a:ext>
            </a:extLst>
          </p:cNvPr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11202073" y="107064"/>
            <a:ext cx="1050887" cy="890571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882396"/>
            <a:ext cx="10789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B212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DBMS Software Architecture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4709160" y="1417320"/>
            <a:ext cx="2743200" cy="548640"/>
          </a:xfrm>
          <a:prstGeom prst="roundRect">
            <a:avLst>
              <a:gd name="adj" fmla="val 11667"/>
            </a:avLst>
          </a:prstGeom>
          <a:solidFill>
            <a:srgbClr val="EEF1F3"/>
          </a:solidFill>
          <a:ln/>
        </p:spPr>
      </p:sp>
      <p:sp>
        <p:nvSpPr>
          <p:cNvPr id="5" name="Text 3"/>
          <p:cNvSpPr/>
          <p:nvPr/>
        </p:nvSpPr>
        <p:spPr>
          <a:xfrm>
            <a:off x="4709160" y="1417320"/>
            <a:ext cx="2743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1B21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Users / Applications</a:t>
            </a:r>
            <a:endParaRPr lang="en-US" sz="1250" dirty="0"/>
          </a:p>
        </p:txBody>
      </p:sp>
      <p:sp>
        <p:nvSpPr>
          <p:cNvPr id="6" name="Shape 4"/>
          <p:cNvSpPr/>
          <p:nvPr/>
        </p:nvSpPr>
        <p:spPr>
          <a:xfrm>
            <a:off x="6080760" y="1965960"/>
            <a:ext cx="0" cy="274320"/>
          </a:xfrm>
          <a:prstGeom prst="line">
            <a:avLst/>
          </a:prstGeom>
          <a:noFill/>
          <a:ln w="19050">
            <a:solidFill>
              <a:srgbClr val="5C6670"/>
            </a:solidFill>
            <a:prstDash val="solid"/>
            <a:tailEnd type="triangle"/>
          </a:ln>
        </p:spPr>
      </p:sp>
      <p:sp>
        <p:nvSpPr>
          <p:cNvPr id="7" name="Shape 5"/>
          <p:cNvSpPr/>
          <p:nvPr/>
        </p:nvSpPr>
        <p:spPr>
          <a:xfrm>
            <a:off x="4251960" y="2286000"/>
            <a:ext cx="3657600" cy="594360"/>
          </a:xfrm>
          <a:prstGeom prst="roundRect">
            <a:avLst>
              <a:gd name="adj" fmla="val 10769"/>
            </a:avLst>
          </a:prstGeom>
          <a:solidFill>
            <a:srgbClr val="36454F"/>
          </a:solidFill>
          <a:ln/>
        </p:spPr>
      </p:sp>
      <p:sp>
        <p:nvSpPr>
          <p:cNvPr id="8" name="Text 6"/>
          <p:cNvSpPr/>
          <p:nvPr/>
        </p:nvSpPr>
        <p:spPr>
          <a:xfrm>
            <a:off x="4251960" y="2286000"/>
            <a:ext cx="3657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Query Processor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6080760" y="2880360"/>
            <a:ext cx="0" cy="274320"/>
          </a:xfrm>
          <a:prstGeom prst="line">
            <a:avLst/>
          </a:prstGeom>
          <a:noFill/>
          <a:ln w="19050">
            <a:solidFill>
              <a:srgbClr val="5C6670"/>
            </a:solidFill>
            <a:prstDash val="solid"/>
            <a:tailEnd type="triangle"/>
          </a:ln>
        </p:spPr>
      </p:sp>
      <p:sp>
        <p:nvSpPr>
          <p:cNvPr id="10" name="Shape 8"/>
          <p:cNvSpPr/>
          <p:nvPr/>
        </p:nvSpPr>
        <p:spPr>
          <a:xfrm>
            <a:off x="4251960" y="3200400"/>
            <a:ext cx="3657600" cy="594360"/>
          </a:xfrm>
          <a:prstGeom prst="roundRect">
            <a:avLst>
              <a:gd name="adj" fmla="val 10769"/>
            </a:avLst>
          </a:prstGeom>
          <a:solidFill>
            <a:srgbClr val="3E92CC"/>
          </a:solidFill>
          <a:ln/>
        </p:spPr>
      </p:sp>
      <p:sp>
        <p:nvSpPr>
          <p:cNvPr id="11" name="Text 9"/>
          <p:cNvSpPr/>
          <p:nvPr/>
        </p:nvSpPr>
        <p:spPr>
          <a:xfrm>
            <a:off x="4251960" y="3200400"/>
            <a:ext cx="3657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Transaction Manager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6080760" y="3794760"/>
            <a:ext cx="0" cy="274320"/>
          </a:xfrm>
          <a:prstGeom prst="line">
            <a:avLst/>
          </a:prstGeom>
          <a:noFill/>
          <a:ln w="19050">
            <a:solidFill>
              <a:srgbClr val="5C6670"/>
            </a:solidFill>
            <a:prstDash val="solid"/>
            <a:tailEnd type="triangle"/>
          </a:ln>
        </p:spPr>
      </p:sp>
      <p:sp>
        <p:nvSpPr>
          <p:cNvPr id="13" name="Shape 11"/>
          <p:cNvSpPr/>
          <p:nvPr/>
        </p:nvSpPr>
        <p:spPr>
          <a:xfrm>
            <a:off x="4251960" y="4114800"/>
            <a:ext cx="3657600" cy="594360"/>
          </a:xfrm>
          <a:prstGeom prst="roundRect">
            <a:avLst>
              <a:gd name="adj" fmla="val 10769"/>
            </a:avLst>
          </a:prstGeom>
          <a:solidFill>
            <a:srgbClr val="8FA1AC"/>
          </a:solidFill>
          <a:ln/>
        </p:spPr>
      </p:sp>
      <p:sp>
        <p:nvSpPr>
          <p:cNvPr id="14" name="Text 12"/>
          <p:cNvSpPr/>
          <p:nvPr/>
        </p:nvSpPr>
        <p:spPr>
          <a:xfrm>
            <a:off x="4251960" y="4114800"/>
            <a:ext cx="3657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1B21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Storage Manager</a:t>
            </a:r>
            <a:endParaRPr lang="en-US" sz="1250" dirty="0"/>
          </a:p>
        </p:txBody>
      </p:sp>
      <p:sp>
        <p:nvSpPr>
          <p:cNvPr id="15" name="Shape 13"/>
          <p:cNvSpPr/>
          <p:nvPr/>
        </p:nvSpPr>
        <p:spPr>
          <a:xfrm>
            <a:off x="6080760" y="4709160"/>
            <a:ext cx="0" cy="274320"/>
          </a:xfrm>
          <a:prstGeom prst="line">
            <a:avLst/>
          </a:prstGeom>
          <a:noFill/>
          <a:ln w="19050">
            <a:solidFill>
              <a:srgbClr val="5C6670"/>
            </a:solidFill>
            <a:prstDash val="solid"/>
            <a:tailEnd type="triangle"/>
          </a:ln>
        </p:spPr>
      </p:sp>
      <p:sp>
        <p:nvSpPr>
          <p:cNvPr id="16" name="Shape 14"/>
          <p:cNvSpPr/>
          <p:nvPr/>
        </p:nvSpPr>
        <p:spPr>
          <a:xfrm>
            <a:off x="4480560" y="5029200"/>
            <a:ext cx="3200400" cy="548640"/>
          </a:xfrm>
          <a:prstGeom prst="roundRect">
            <a:avLst>
              <a:gd name="adj" fmla="val 11667"/>
            </a:avLst>
          </a:prstGeom>
          <a:solidFill>
            <a:srgbClr val="EEF1F3"/>
          </a:solidFill>
          <a:ln/>
        </p:spPr>
      </p:sp>
      <p:sp>
        <p:nvSpPr>
          <p:cNvPr id="17" name="Text 15"/>
          <p:cNvSpPr/>
          <p:nvPr/>
        </p:nvSpPr>
        <p:spPr>
          <a:xfrm>
            <a:off x="4480560" y="5029200"/>
            <a:ext cx="3200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1B21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Database (Data + Indexes + Metadata)</a:t>
            </a:r>
            <a:endParaRPr lang="en-US" sz="1150" dirty="0"/>
          </a:p>
        </p:txBody>
      </p:sp>
      <p:sp>
        <p:nvSpPr>
          <p:cNvPr id="18" name="Shape 16"/>
          <p:cNvSpPr/>
          <p:nvPr/>
        </p:nvSpPr>
        <p:spPr>
          <a:xfrm>
            <a:off x="502920" y="2286000"/>
            <a:ext cx="3291840" cy="3291840"/>
          </a:xfrm>
          <a:prstGeom prst="roundRect">
            <a:avLst>
              <a:gd name="adj" fmla="val 2778"/>
            </a:avLst>
          </a:prstGeom>
          <a:solidFill>
            <a:srgbClr val="EEF1F3"/>
          </a:solidFill>
          <a:ln/>
        </p:spPr>
      </p:sp>
      <p:sp>
        <p:nvSpPr>
          <p:cNvPr id="19" name="Text 17"/>
          <p:cNvSpPr/>
          <p:nvPr/>
        </p:nvSpPr>
        <p:spPr>
          <a:xfrm>
            <a:off x="731520" y="2423160"/>
            <a:ext cx="2834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3645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it flows</a:t>
            </a:r>
            <a:endParaRPr lang="en-US" sz="1250" dirty="0"/>
          </a:p>
        </p:txBody>
      </p:sp>
      <p:sp>
        <p:nvSpPr>
          <p:cNvPr id="20" name="Text 18"/>
          <p:cNvSpPr/>
          <p:nvPr/>
        </p:nvSpPr>
        <p:spPr>
          <a:xfrm>
            <a:off x="731520" y="2834640"/>
            <a:ext cx="2834640" cy="2651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1B21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user submits a query. </a:t>
            </a:r>
            <a:r>
              <a:rPr lang="en-US" sz="1200" b="1" dirty="0">
                <a:solidFill>
                  <a:srgbClr val="1B21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Query Processor</a:t>
            </a:r>
            <a:r>
              <a:rPr lang="en-US" sz="1200" dirty="0">
                <a:solidFill>
                  <a:srgbClr val="1B21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parses and optimizes it. </a:t>
            </a:r>
            <a:r>
              <a:rPr lang="en-US" sz="1200" b="1" dirty="0">
                <a:solidFill>
                  <a:srgbClr val="1B21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Transaction Manager</a:t>
            </a:r>
            <a:r>
              <a:rPr lang="en-US" sz="1200" dirty="0">
                <a:solidFill>
                  <a:srgbClr val="1B21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ensures the operation runs safely (ACID). </a:t>
            </a:r>
            <a:r>
              <a:rPr lang="en-US" sz="1200" b="1" dirty="0">
                <a:solidFill>
                  <a:srgbClr val="1B21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Storage Manager</a:t>
            </a:r>
            <a:r>
              <a:rPr lang="en-US" sz="1200" dirty="0">
                <a:solidFill>
                  <a:srgbClr val="1B21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then reads or writes the actual data on disk.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457200" y="6510528"/>
            <a:ext cx="8686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8B95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CSA05 | CO1 – DBMS Architecture, Data Models &amp; ER/EER Design | Technical Presentation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10789920" y="6510528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8B95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/ 5</a:t>
            </a:r>
            <a:endParaRPr lang="en-US" sz="900" dirty="0"/>
          </a:p>
        </p:txBody>
      </p:sp>
      <p:pic>
        <p:nvPicPr>
          <p:cNvPr id="24" name="object 6">
            <a:extLst>
              <a:ext uri="{FF2B5EF4-FFF2-40B4-BE49-F238E27FC236}">
                <a16:creationId xmlns:a16="http://schemas.microsoft.com/office/drawing/2014/main" id="{F01D433A-F860-E177-4AB9-775BA89D6F24}"/>
              </a:ext>
            </a:extLst>
          </p:cNvPr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201168" y="114613"/>
            <a:ext cx="1005840" cy="891227"/>
          </a:xfrm>
          <a:prstGeom prst="rect">
            <a:avLst/>
          </a:prstGeom>
        </p:spPr>
      </p:pic>
      <p:pic>
        <p:nvPicPr>
          <p:cNvPr id="28" name="object 7">
            <a:extLst>
              <a:ext uri="{FF2B5EF4-FFF2-40B4-BE49-F238E27FC236}">
                <a16:creationId xmlns:a16="http://schemas.microsoft.com/office/drawing/2014/main" id="{8D53F3D1-21BA-986F-C8E7-5BF209736708}"/>
              </a:ext>
            </a:extLst>
          </p:cNvPr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11202073" y="107064"/>
            <a:ext cx="1050887" cy="890571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704088" y="994884"/>
            <a:ext cx="10789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B212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Query Processor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640080" y="1600200"/>
            <a:ext cx="566928" cy="566928"/>
          </a:xfrm>
          <a:prstGeom prst="ellipse">
            <a:avLst/>
          </a:prstGeom>
          <a:solidFill>
            <a:srgbClr val="36454F"/>
          </a:solidFill>
          <a:ln/>
        </p:spPr>
      </p:sp>
      <p:sp>
        <p:nvSpPr>
          <p:cNvPr id="5" name="Text 3"/>
          <p:cNvSpPr/>
          <p:nvPr/>
        </p:nvSpPr>
        <p:spPr>
          <a:xfrm>
            <a:off x="640080" y="160020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①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1508760" y="1545336"/>
            <a:ext cx="9692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B21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DDL / DML Compiler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1508760" y="1892808"/>
            <a:ext cx="96926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5C66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Translates SQL statements into an internal, low-level representation the DBMS can execute.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640080" y="2651760"/>
            <a:ext cx="566928" cy="566928"/>
          </a:xfrm>
          <a:prstGeom prst="ellipse">
            <a:avLst/>
          </a:prstGeom>
          <a:solidFill>
            <a:srgbClr val="36454F"/>
          </a:solidFill>
          <a:ln/>
        </p:spPr>
      </p:sp>
      <p:sp>
        <p:nvSpPr>
          <p:cNvPr id="9" name="Text 7"/>
          <p:cNvSpPr/>
          <p:nvPr/>
        </p:nvSpPr>
        <p:spPr>
          <a:xfrm>
            <a:off x="640080" y="265176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②</a:t>
            </a:r>
            <a:endParaRPr lang="en-US" sz="2000" dirty="0"/>
          </a:p>
        </p:txBody>
      </p:sp>
      <p:sp>
        <p:nvSpPr>
          <p:cNvPr id="10" name="Text 8"/>
          <p:cNvSpPr/>
          <p:nvPr/>
        </p:nvSpPr>
        <p:spPr>
          <a:xfrm>
            <a:off x="1508760" y="2596896"/>
            <a:ext cx="9692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B21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Query Optimizer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1508760" y="2944368"/>
            <a:ext cx="96926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5C66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Evaluates multiple execution plans and chooses the one with the lowest estimated cost.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640080" y="3703320"/>
            <a:ext cx="566928" cy="566928"/>
          </a:xfrm>
          <a:prstGeom prst="ellipse">
            <a:avLst/>
          </a:prstGeom>
          <a:solidFill>
            <a:srgbClr val="36454F"/>
          </a:solidFill>
          <a:ln/>
        </p:spPr>
      </p:sp>
      <p:sp>
        <p:nvSpPr>
          <p:cNvPr id="13" name="Text 11"/>
          <p:cNvSpPr/>
          <p:nvPr/>
        </p:nvSpPr>
        <p:spPr>
          <a:xfrm>
            <a:off x="640080" y="370332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③</a:t>
            </a:r>
            <a:endParaRPr lang="en-US" sz="2000" dirty="0"/>
          </a:p>
        </p:txBody>
      </p:sp>
      <p:sp>
        <p:nvSpPr>
          <p:cNvPr id="14" name="Text 12"/>
          <p:cNvSpPr/>
          <p:nvPr/>
        </p:nvSpPr>
        <p:spPr>
          <a:xfrm>
            <a:off x="1508760" y="3648456"/>
            <a:ext cx="9692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B21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Query Evaluation Engine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1508760" y="3995928"/>
            <a:ext cx="96926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5C66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Executes the low-level instructions generated by the compiler and optimizer against the data.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640080" y="4754880"/>
            <a:ext cx="566928" cy="566928"/>
          </a:xfrm>
          <a:prstGeom prst="ellipse">
            <a:avLst/>
          </a:prstGeom>
          <a:solidFill>
            <a:srgbClr val="36454F"/>
          </a:solidFill>
          <a:ln/>
        </p:spPr>
      </p:sp>
      <p:sp>
        <p:nvSpPr>
          <p:cNvPr id="17" name="Text 15"/>
          <p:cNvSpPr/>
          <p:nvPr/>
        </p:nvSpPr>
        <p:spPr>
          <a:xfrm>
            <a:off x="640080" y="475488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④</a:t>
            </a:r>
            <a:endParaRPr lang="en-US" sz="2000" dirty="0"/>
          </a:p>
        </p:txBody>
      </p:sp>
      <p:sp>
        <p:nvSpPr>
          <p:cNvPr id="18" name="Text 16"/>
          <p:cNvSpPr/>
          <p:nvPr/>
        </p:nvSpPr>
        <p:spPr>
          <a:xfrm>
            <a:off x="1508760" y="4700016"/>
            <a:ext cx="9692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B21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Role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1508760" y="5047488"/>
            <a:ext cx="96926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5C66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Converts a declarative SQL query into an efficient, step-by-step access plan — the DBMS's 'brain' for query handling.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457200" y="6510528"/>
            <a:ext cx="8686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8B95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CSA05 | CO1 – DBMS Architecture, Data Models &amp; ER/EER Design | Technical Presentation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10789920" y="6510528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8B95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/ 5</a:t>
            </a:r>
            <a:endParaRPr lang="en-US" sz="900" dirty="0"/>
          </a:p>
        </p:txBody>
      </p:sp>
      <p:pic>
        <p:nvPicPr>
          <p:cNvPr id="23" name="object 6">
            <a:extLst>
              <a:ext uri="{FF2B5EF4-FFF2-40B4-BE49-F238E27FC236}">
                <a16:creationId xmlns:a16="http://schemas.microsoft.com/office/drawing/2014/main" id="{18D499FC-4998-496E-A9CD-FEE78D6F4661}"/>
              </a:ext>
            </a:extLst>
          </p:cNvPr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201168" y="114613"/>
            <a:ext cx="1005840" cy="891227"/>
          </a:xfrm>
          <a:prstGeom prst="rect">
            <a:avLst/>
          </a:prstGeom>
        </p:spPr>
      </p:pic>
      <p:pic>
        <p:nvPicPr>
          <p:cNvPr id="25" name="object 7">
            <a:extLst>
              <a:ext uri="{FF2B5EF4-FFF2-40B4-BE49-F238E27FC236}">
                <a16:creationId xmlns:a16="http://schemas.microsoft.com/office/drawing/2014/main" id="{A3C98932-4300-A734-E98C-54743C5CAF1D}"/>
              </a:ext>
            </a:extLst>
          </p:cNvPr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11202073" y="107064"/>
            <a:ext cx="1050887" cy="890571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942522"/>
            <a:ext cx="10789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B212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Storage Manager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640080" y="1600200"/>
            <a:ext cx="566928" cy="566928"/>
          </a:xfrm>
          <a:prstGeom prst="ellipse">
            <a:avLst/>
          </a:prstGeom>
          <a:solidFill>
            <a:srgbClr val="36454F"/>
          </a:solidFill>
          <a:ln/>
        </p:spPr>
      </p:sp>
      <p:sp>
        <p:nvSpPr>
          <p:cNvPr id="5" name="Text 3"/>
          <p:cNvSpPr/>
          <p:nvPr/>
        </p:nvSpPr>
        <p:spPr>
          <a:xfrm>
            <a:off x="640080" y="160020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①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1508760" y="1545336"/>
            <a:ext cx="9692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B21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Authorization &amp; Integrity Manager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1508760" y="1892808"/>
            <a:ext cx="96926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5C66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Checks user permissions and enforces integrity constraints before data is accessed.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640080" y="2651760"/>
            <a:ext cx="566928" cy="566928"/>
          </a:xfrm>
          <a:prstGeom prst="ellipse">
            <a:avLst/>
          </a:prstGeom>
          <a:solidFill>
            <a:srgbClr val="36454F"/>
          </a:solidFill>
          <a:ln/>
        </p:spPr>
      </p:sp>
      <p:sp>
        <p:nvSpPr>
          <p:cNvPr id="9" name="Text 7"/>
          <p:cNvSpPr/>
          <p:nvPr/>
        </p:nvSpPr>
        <p:spPr>
          <a:xfrm>
            <a:off x="640080" y="265176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②</a:t>
            </a:r>
            <a:endParaRPr lang="en-US" sz="2000" dirty="0"/>
          </a:p>
        </p:txBody>
      </p:sp>
      <p:sp>
        <p:nvSpPr>
          <p:cNvPr id="10" name="Text 8"/>
          <p:cNvSpPr/>
          <p:nvPr/>
        </p:nvSpPr>
        <p:spPr>
          <a:xfrm>
            <a:off x="1508760" y="2596896"/>
            <a:ext cx="9692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B21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File Manager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1508760" y="2944368"/>
            <a:ext cx="96926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5C66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Manages the allocation of disk space and the data structures used to represent stored information.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640080" y="3703320"/>
            <a:ext cx="566928" cy="566928"/>
          </a:xfrm>
          <a:prstGeom prst="ellipse">
            <a:avLst/>
          </a:prstGeom>
          <a:solidFill>
            <a:srgbClr val="36454F"/>
          </a:solidFill>
          <a:ln/>
        </p:spPr>
      </p:sp>
      <p:sp>
        <p:nvSpPr>
          <p:cNvPr id="13" name="Text 11"/>
          <p:cNvSpPr/>
          <p:nvPr/>
        </p:nvSpPr>
        <p:spPr>
          <a:xfrm>
            <a:off x="640080" y="370332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③</a:t>
            </a:r>
            <a:endParaRPr lang="en-US" sz="2000" dirty="0"/>
          </a:p>
        </p:txBody>
      </p:sp>
      <p:sp>
        <p:nvSpPr>
          <p:cNvPr id="14" name="Text 12"/>
          <p:cNvSpPr/>
          <p:nvPr/>
        </p:nvSpPr>
        <p:spPr>
          <a:xfrm>
            <a:off x="1508760" y="3648456"/>
            <a:ext cx="9692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B21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Buffer Manager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1508760" y="3995928"/>
            <a:ext cx="96926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5C66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Moves data between disk and main memory, deciding what to cache for faster access.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640080" y="4754880"/>
            <a:ext cx="566928" cy="566928"/>
          </a:xfrm>
          <a:prstGeom prst="ellipse">
            <a:avLst/>
          </a:prstGeom>
          <a:solidFill>
            <a:srgbClr val="36454F"/>
          </a:solidFill>
          <a:ln/>
        </p:spPr>
      </p:sp>
      <p:sp>
        <p:nvSpPr>
          <p:cNvPr id="17" name="Text 15"/>
          <p:cNvSpPr/>
          <p:nvPr/>
        </p:nvSpPr>
        <p:spPr>
          <a:xfrm>
            <a:off x="640080" y="475488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④</a:t>
            </a:r>
            <a:endParaRPr lang="en-US" sz="2000" dirty="0"/>
          </a:p>
        </p:txBody>
      </p:sp>
      <p:sp>
        <p:nvSpPr>
          <p:cNvPr id="18" name="Text 16"/>
          <p:cNvSpPr/>
          <p:nvPr/>
        </p:nvSpPr>
        <p:spPr>
          <a:xfrm>
            <a:off x="1508760" y="4700016"/>
            <a:ext cx="9692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B21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Role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1508760" y="5047488"/>
            <a:ext cx="96926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5C66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Provides the interface between the low-level data stored in the database and application/query programs.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457200" y="6510528"/>
            <a:ext cx="8686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8B95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CSA05 | CO1 – DBMS Architecture, Data Models &amp; ER/EER Design | Technical Presentation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10789920" y="6510528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8B95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/ 5</a:t>
            </a:r>
            <a:endParaRPr lang="en-US" sz="900" dirty="0"/>
          </a:p>
        </p:txBody>
      </p:sp>
      <p:pic>
        <p:nvPicPr>
          <p:cNvPr id="23" name="object 6">
            <a:extLst>
              <a:ext uri="{FF2B5EF4-FFF2-40B4-BE49-F238E27FC236}">
                <a16:creationId xmlns:a16="http://schemas.microsoft.com/office/drawing/2014/main" id="{5FE2685B-8A62-CE22-987B-E4CF7B821AED}"/>
              </a:ext>
            </a:extLst>
          </p:cNvPr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201168" y="114613"/>
            <a:ext cx="1005840" cy="891227"/>
          </a:xfrm>
          <a:prstGeom prst="rect">
            <a:avLst/>
          </a:prstGeom>
        </p:spPr>
      </p:pic>
      <p:pic>
        <p:nvPicPr>
          <p:cNvPr id="25" name="object 7">
            <a:extLst>
              <a:ext uri="{FF2B5EF4-FFF2-40B4-BE49-F238E27FC236}">
                <a16:creationId xmlns:a16="http://schemas.microsoft.com/office/drawing/2014/main" id="{D73EABC8-9AC7-DCF9-D5E6-EC5FDEB3966E}"/>
              </a:ext>
            </a:extLst>
          </p:cNvPr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11202073" y="107064"/>
            <a:ext cx="1050887" cy="890571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36454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097280" y="4206240"/>
            <a:ext cx="4206240" cy="4206240"/>
          </a:xfrm>
          <a:prstGeom prst="ellipse">
            <a:avLst/>
          </a:prstGeom>
          <a:solidFill>
            <a:srgbClr val="8FA1AC">
              <a:alpha val="22000"/>
            </a:srgbClr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50292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731520" y="1022403"/>
            <a:ext cx="10058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Transaction Manager</a:t>
            </a:r>
            <a:endParaRPr lang="en-US" sz="2700" dirty="0"/>
          </a:p>
        </p:txBody>
      </p:sp>
      <p:sp>
        <p:nvSpPr>
          <p:cNvPr id="5" name="Shape 3"/>
          <p:cNvSpPr/>
          <p:nvPr/>
        </p:nvSpPr>
        <p:spPr>
          <a:xfrm>
            <a:off x="640080" y="1737360"/>
            <a:ext cx="502920" cy="502920"/>
          </a:xfrm>
          <a:prstGeom prst="ellipse">
            <a:avLst/>
          </a:prstGeom>
          <a:solidFill>
            <a:srgbClr val="3E92CC"/>
          </a:solidFill>
          <a:ln/>
        </p:spPr>
      </p:sp>
      <p:sp>
        <p:nvSpPr>
          <p:cNvPr id="6" name="Text 4"/>
          <p:cNvSpPr/>
          <p:nvPr/>
        </p:nvSpPr>
        <p:spPr>
          <a:xfrm>
            <a:off x="640080" y="173736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700" dirty="0"/>
          </a:p>
        </p:txBody>
      </p:sp>
      <p:sp>
        <p:nvSpPr>
          <p:cNvPr id="7" name="Text 5"/>
          <p:cNvSpPr/>
          <p:nvPr/>
        </p:nvSpPr>
        <p:spPr>
          <a:xfrm>
            <a:off x="1325880" y="1682496"/>
            <a:ext cx="9692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4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Ensures every transaction satisfies the ACID properties: Atomicity, Consistency, Isolation, Durability.</a:t>
            </a:r>
            <a:endParaRPr lang="en-US" sz="1450" dirty="0"/>
          </a:p>
        </p:txBody>
      </p:sp>
      <p:sp>
        <p:nvSpPr>
          <p:cNvPr id="8" name="Shape 6"/>
          <p:cNvSpPr/>
          <p:nvPr/>
        </p:nvSpPr>
        <p:spPr>
          <a:xfrm>
            <a:off x="640080" y="2743200"/>
            <a:ext cx="502920" cy="502920"/>
          </a:xfrm>
          <a:prstGeom prst="ellipse">
            <a:avLst/>
          </a:prstGeom>
          <a:solidFill>
            <a:srgbClr val="3E92CC"/>
          </a:solidFill>
          <a:ln/>
        </p:spPr>
      </p:sp>
      <p:sp>
        <p:nvSpPr>
          <p:cNvPr id="9" name="Text 7"/>
          <p:cNvSpPr/>
          <p:nvPr/>
        </p:nvSpPr>
        <p:spPr>
          <a:xfrm>
            <a:off x="640080" y="274320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700" dirty="0"/>
          </a:p>
        </p:txBody>
      </p:sp>
      <p:sp>
        <p:nvSpPr>
          <p:cNvPr id="10" name="Text 8"/>
          <p:cNvSpPr/>
          <p:nvPr/>
        </p:nvSpPr>
        <p:spPr>
          <a:xfrm>
            <a:off x="1325880" y="2688336"/>
            <a:ext cx="9692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4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Coordinates concurrency control so multiple users can safely access data at the same time.</a:t>
            </a:r>
            <a:endParaRPr lang="en-US" sz="1450" dirty="0"/>
          </a:p>
        </p:txBody>
      </p:sp>
      <p:sp>
        <p:nvSpPr>
          <p:cNvPr id="11" name="Shape 9"/>
          <p:cNvSpPr/>
          <p:nvPr/>
        </p:nvSpPr>
        <p:spPr>
          <a:xfrm>
            <a:off x="640080" y="3749040"/>
            <a:ext cx="502920" cy="502920"/>
          </a:xfrm>
          <a:prstGeom prst="ellipse">
            <a:avLst/>
          </a:prstGeom>
          <a:solidFill>
            <a:srgbClr val="3E92CC"/>
          </a:solidFill>
          <a:ln/>
        </p:spPr>
      </p:sp>
      <p:sp>
        <p:nvSpPr>
          <p:cNvPr id="12" name="Text 10"/>
          <p:cNvSpPr/>
          <p:nvPr/>
        </p:nvSpPr>
        <p:spPr>
          <a:xfrm>
            <a:off x="640080" y="374904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700" dirty="0"/>
          </a:p>
        </p:txBody>
      </p:sp>
      <p:sp>
        <p:nvSpPr>
          <p:cNvPr id="13" name="Text 11"/>
          <p:cNvSpPr/>
          <p:nvPr/>
        </p:nvSpPr>
        <p:spPr>
          <a:xfrm>
            <a:off x="1325880" y="3694176"/>
            <a:ext cx="9692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4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Works with a recovery manager to restore the database to a consistent state after a failure.</a:t>
            </a:r>
            <a:endParaRPr lang="en-US" sz="1450" dirty="0"/>
          </a:p>
        </p:txBody>
      </p:sp>
      <p:sp>
        <p:nvSpPr>
          <p:cNvPr id="14" name="Shape 12"/>
          <p:cNvSpPr/>
          <p:nvPr/>
        </p:nvSpPr>
        <p:spPr>
          <a:xfrm>
            <a:off x="640080" y="4754880"/>
            <a:ext cx="502920" cy="502920"/>
          </a:xfrm>
          <a:prstGeom prst="ellipse">
            <a:avLst/>
          </a:prstGeom>
          <a:solidFill>
            <a:srgbClr val="3E92CC"/>
          </a:solidFill>
          <a:ln/>
        </p:spPr>
      </p:sp>
      <p:sp>
        <p:nvSpPr>
          <p:cNvPr id="15" name="Text 13"/>
          <p:cNvSpPr/>
          <p:nvPr/>
        </p:nvSpPr>
        <p:spPr>
          <a:xfrm>
            <a:off x="640080" y="475488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700" dirty="0"/>
          </a:p>
        </p:txBody>
      </p:sp>
      <p:sp>
        <p:nvSpPr>
          <p:cNvPr id="16" name="Text 14"/>
          <p:cNvSpPr/>
          <p:nvPr/>
        </p:nvSpPr>
        <p:spPr>
          <a:xfrm>
            <a:off x="1325880" y="4700016"/>
            <a:ext cx="9692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4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Together, the query processor, storage manager, and transaction manager form the operational core of any DBMS.</a:t>
            </a:r>
            <a:endParaRPr lang="en-US" sz="1450" dirty="0"/>
          </a:p>
        </p:txBody>
      </p:sp>
      <p:sp>
        <p:nvSpPr>
          <p:cNvPr id="17" name="Text 15"/>
          <p:cNvSpPr/>
          <p:nvPr/>
        </p:nvSpPr>
        <p:spPr>
          <a:xfrm>
            <a:off x="640080" y="5852160"/>
            <a:ext cx="10515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8FA1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component has a distinct job, yet all three must cooperate for every single query to succeed.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457200" y="6510528"/>
            <a:ext cx="8686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8B95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CSA05 | CO1 – DBMS Architecture, Data Models &amp; ER/EER Design | Technical Presentation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10789920" y="6510528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8B95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/ 5</a:t>
            </a:r>
            <a:endParaRPr lang="en-US" sz="900" dirty="0"/>
          </a:p>
        </p:txBody>
      </p:sp>
      <p:pic>
        <p:nvPicPr>
          <p:cNvPr id="21" name="object 6">
            <a:extLst>
              <a:ext uri="{FF2B5EF4-FFF2-40B4-BE49-F238E27FC236}">
                <a16:creationId xmlns:a16="http://schemas.microsoft.com/office/drawing/2014/main" id="{A747473B-5B75-786E-B22E-247360CF3D03}"/>
              </a:ext>
            </a:extLst>
          </p:cNvPr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201168" y="114613"/>
            <a:ext cx="1005840" cy="891227"/>
          </a:xfrm>
          <a:prstGeom prst="rect">
            <a:avLst/>
          </a:prstGeom>
        </p:spPr>
      </p:pic>
      <p:pic>
        <p:nvPicPr>
          <p:cNvPr id="23" name="object 7">
            <a:extLst>
              <a:ext uri="{FF2B5EF4-FFF2-40B4-BE49-F238E27FC236}">
                <a16:creationId xmlns:a16="http://schemas.microsoft.com/office/drawing/2014/main" id="{E18E1360-257F-3AD7-CF41-566C95671238}"/>
              </a:ext>
            </a:extLst>
          </p:cNvPr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11202073" y="107064"/>
            <a:ext cx="1050887" cy="890571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mbria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429</Words>
  <Application>Microsoft Office PowerPoint</Application>
  <PresentationFormat>Widescreen</PresentationFormat>
  <Paragraphs>61</Paragraphs>
  <Slides>5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9" baseType="lpstr">
      <vt:lpstr>Arial</vt:lpstr>
      <vt:lpstr>Calibri</vt:lpstr>
      <vt:lpstr>Cambria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jashwanth raghu</cp:lastModifiedBy>
  <cp:revision>2</cp:revision>
  <dcterms:created xsi:type="dcterms:W3CDTF">2026-07-21T13:33:39Z</dcterms:created>
  <dcterms:modified xsi:type="dcterms:W3CDTF">2026-07-23T03:20:17Z</dcterms:modified>
</cp:coreProperties>
</file>