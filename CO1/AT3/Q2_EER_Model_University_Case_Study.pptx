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5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5945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E8A33D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EER Model:</a:t>
            </a:r>
            <a:endParaRPr lang="en-US" sz="4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 &amp; Specialization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the ER model with hierarchies — illustrated through a University case study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59436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By,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Jashwanth.G.R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(192524384),B.tech AIDS</a:t>
            </a:r>
            <a:endParaRPr lang="en-US" sz="1300" dirty="0"/>
          </a:p>
        </p:txBody>
      </p:sp>
      <p:pic>
        <p:nvPicPr>
          <p:cNvPr id="28" name="object 6">
            <a:extLst>
              <a:ext uri="{FF2B5EF4-FFF2-40B4-BE49-F238E27FC236}">
                <a16:creationId xmlns:a16="http://schemas.microsoft.com/office/drawing/2014/main" id="{EFE3DCFA-FAF7-D2D7-AC7D-5B0436E544E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168" y="114613"/>
            <a:ext cx="1005840" cy="891227"/>
          </a:xfrm>
          <a:prstGeom prst="rect">
            <a:avLst/>
          </a:prstGeom>
        </p:spPr>
      </p:pic>
      <p:pic>
        <p:nvPicPr>
          <p:cNvPr id="30" name="object 7">
            <a:extLst>
              <a:ext uri="{FF2B5EF4-FFF2-40B4-BE49-F238E27FC236}">
                <a16:creationId xmlns:a16="http://schemas.microsoft.com/office/drawing/2014/main" id="{07A85415-9B82-8FF7-3895-64694328F68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02073" y="107064"/>
            <a:ext cx="1050887" cy="8905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04088" y="925787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ER to EER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15453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EER?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89280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Enhanced ER (EER) model adds constructs the basic ER model lacks: superclass/subclass hierarchies, inheritance, and constraints.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8760" y="25968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Superclass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94436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generic entity type whose members are grouped into more specific subclasses, e.g. PERSON at a university.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36484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399592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specialized entity type that inherits all attributes and relationships of its superclass, plus attributes of its own.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54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470001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 Relationship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504748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 between a subclass and its superclass is read as 'is a' — a Student IS A Person.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CSA05 | CO1 – DBMS Architecture, Data Models &amp; ER/EER Design | Technical Presentation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pic>
        <p:nvPicPr>
          <p:cNvPr id="23" name="object 6">
            <a:extLst>
              <a:ext uri="{FF2B5EF4-FFF2-40B4-BE49-F238E27FC236}">
                <a16:creationId xmlns:a16="http://schemas.microsoft.com/office/drawing/2014/main" id="{49AF5775-2D50-385F-7248-58A1C04D350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168" y="114613"/>
            <a:ext cx="1005840" cy="891227"/>
          </a:xfrm>
          <a:prstGeom prst="rect">
            <a:avLst/>
          </a:prstGeom>
        </p:spPr>
      </p:pic>
      <p:pic>
        <p:nvPicPr>
          <p:cNvPr id="25" name="object 7">
            <a:extLst>
              <a:ext uri="{FF2B5EF4-FFF2-40B4-BE49-F238E27FC236}">
                <a16:creationId xmlns:a16="http://schemas.microsoft.com/office/drawing/2014/main" id="{993B56F4-4D6D-96A2-833B-5AD21172D35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02073" y="107064"/>
            <a:ext cx="1050887" cy="8905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 vs. Specialization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4160520"/>
          </a:xfrm>
          <a:prstGeom prst="roundRect">
            <a:avLst>
              <a:gd name="adj" fmla="val 2637"/>
            </a:avLst>
          </a:prstGeom>
          <a:solidFill>
            <a:srgbClr val="E1EEF4"/>
          </a:solidFill>
          <a:ln w="12700">
            <a:solidFill>
              <a:srgbClr val="065A82">
                <a:alpha val="0"/>
              </a:srgbClr>
            </a:solidFill>
            <a:prstDash val="solid"/>
          </a:ln>
          <a:effectLst>
            <a:outerShdw blurRad="101600" dist="381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116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560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3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4480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5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several existing entity types that share common attributes</a:t>
            </a:r>
            <a:endParaRPr lang="en-US" sz="13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5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them into a single, higher-level superclass</a:t>
            </a:r>
            <a:endParaRPr lang="en-US" sz="13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5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STUDENT and EMPLOYEE are generalized into PERSON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120640" cy="4160520"/>
          </a:xfrm>
          <a:prstGeom prst="roundRect">
            <a:avLst>
              <a:gd name="adj" fmla="val 2637"/>
            </a:avLst>
          </a:prstGeom>
          <a:solidFill>
            <a:srgbClr val="F4F6F8"/>
          </a:solidFill>
          <a:ln w="12700">
            <a:solidFill>
              <a:srgbClr val="065A82">
                <a:alpha val="40000"/>
              </a:srgbClr>
            </a:solidFill>
            <a:prstDash val="solid"/>
          </a:ln>
          <a:effectLst>
            <a:outerShdw blurRad="101600" dist="381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01168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116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2560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3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Specialization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37960" y="3063240"/>
            <a:ext cx="4480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5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one entity type and identifies distinguishing sub-groupings</a:t>
            </a:r>
            <a:endParaRPr lang="en-US" sz="13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5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subclasses that add specific attributes or relationships</a:t>
            </a:r>
            <a:endParaRPr lang="en-US" sz="13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5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PERSON is specialized into STUDENT and EMPLOYEE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9618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processes describe the same superclass/subclass structure — they simply differ in the direction of design.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CSA05 | CO1 – DBMS Architecture, Data Models &amp; ER/EER Design | Technical Presentation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pic>
        <p:nvPicPr>
          <p:cNvPr id="18" name="object 6">
            <a:extLst>
              <a:ext uri="{FF2B5EF4-FFF2-40B4-BE49-F238E27FC236}">
                <a16:creationId xmlns:a16="http://schemas.microsoft.com/office/drawing/2014/main" id="{954E9706-D235-3C79-F291-D40948E341F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168" y="114613"/>
            <a:ext cx="1005840" cy="891227"/>
          </a:xfrm>
          <a:prstGeom prst="rect">
            <a:avLst/>
          </a:prstGeom>
        </p:spPr>
      </p:pic>
      <p:pic>
        <p:nvPicPr>
          <p:cNvPr id="20" name="object 7">
            <a:extLst>
              <a:ext uri="{FF2B5EF4-FFF2-40B4-BE49-F238E27FC236}">
                <a16:creationId xmlns:a16="http://schemas.microsoft.com/office/drawing/2014/main" id="{1C0B83DB-96B2-B282-44A8-4DA3EBEE70F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02073" y="107064"/>
            <a:ext cx="1050887" cy="8905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41208" y="738377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University Hierarchy — Generalization &amp; Specialization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892040" y="1234440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 w="12700">
            <a:solidFill>
              <a:srgbClr val="1230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92040" y="12344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 (Name, ID, DOB)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97880" y="1965960"/>
            <a:ext cx="365760" cy="320040"/>
          </a:xfrm>
          <a:prstGeom prst="triangle">
            <a:avLst/>
          </a:prstGeom>
          <a:solidFill>
            <a:srgbClr val="E8A33D"/>
          </a:solidFill>
          <a:ln w="12700">
            <a:solidFill>
              <a:srgbClr val="1230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2304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80760" y="2286000"/>
            <a:ext cx="0" cy="228600"/>
          </a:xfrm>
          <a:prstGeom prst="line">
            <a:avLst/>
          </a:prstGeom>
          <a:noFill/>
          <a:ln w="19050">
            <a:solidFill>
              <a:srgbClr val="5B748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2514600"/>
            <a:ext cx="2194560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 w="12700">
            <a:solidFill>
              <a:srgbClr val="1230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2514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 (Roll_No, CGPA)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223760" y="2514600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 w="12700">
            <a:solidFill>
              <a:srgbClr val="1230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2514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 (Emp_ID, Salary)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0640" y="2811780"/>
            <a:ext cx="960120" cy="0"/>
          </a:xfrm>
          <a:prstGeom prst="line">
            <a:avLst/>
          </a:prstGeom>
          <a:noFill/>
          <a:ln w="19050">
            <a:solidFill>
              <a:srgbClr val="5B748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2811780"/>
            <a:ext cx="1143000" cy="0"/>
          </a:xfrm>
          <a:prstGeom prst="line">
            <a:avLst/>
          </a:prstGeom>
          <a:noFill/>
          <a:ln w="19050">
            <a:solidFill>
              <a:srgbClr val="5B748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3291840"/>
            <a:ext cx="365760" cy="320040"/>
          </a:xfrm>
          <a:prstGeom prst="triangle">
            <a:avLst/>
          </a:prstGeom>
          <a:solidFill>
            <a:srgbClr val="E8A33D"/>
          </a:solidFill>
          <a:ln w="12700">
            <a:solidFill>
              <a:srgbClr val="1230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3630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412480" y="3611880"/>
            <a:ext cx="0" cy="228600"/>
          </a:xfrm>
          <a:prstGeom prst="line">
            <a:avLst/>
          </a:prstGeom>
          <a:noFill/>
          <a:ln w="19050">
            <a:solidFill>
              <a:srgbClr val="5B748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4160520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E8A33D"/>
          </a:solidFill>
          <a:ln w="12700">
            <a:solidFill>
              <a:srgbClr val="1230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4160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 (Dept, Rank)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12480" y="4160520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E8A33D"/>
          </a:solidFill>
          <a:ln w="12700">
            <a:solidFill>
              <a:srgbClr val="1230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4160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 (Designation)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 flipV="1">
            <a:off x="7040880" y="3840480"/>
            <a:ext cx="1371600" cy="617220"/>
          </a:xfrm>
          <a:prstGeom prst="line">
            <a:avLst/>
          </a:prstGeom>
          <a:noFill/>
          <a:ln w="19050">
            <a:solidFill>
              <a:srgbClr val="5B748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3840480"/>
            <a:ext cx="1005840" cy="320040"/>
          </a:xfrm>
          <a:prstGeom prst="line">
            <a:avLst/>
          </a:prstGeom>
          <a:noFill/>
          <a:ln w="19050">
            <a:solidFill>
              <a:srgbClr val="5B748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08960" y="3291840"/>
            <a:ext cx="365760" cy="320040"/>
          </a:xfrm>
          <a:prstGeom prst="triangle">
            <a:avLst/>
          </a:prstGeom>
          <a:solidFill>
            <a:srgbClr val="E8A33D"/>
          </a:solidFill>
          <a:ln w="12700">
            <a:solidFill>
              <a:srgbClr val="1230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3630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3611880"/>
            <a:ext cx="0" cy="228600"/>
          </a:xfrm>
          <a:prstGeom prst="line">
            <a:avLst/>
          </a:prstGeom>
          <a:noFill/>
          <a:ln w="19050">
            <a:solidFill>
              <a:srgbClr val="5B748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" y="4160520"/>
            <a:ext cx="2194560" cy="594360"/>
          </a:xfrm>
          <a:prstGeom prst="roundRect">
            <a:avLst>
              <a:gd name="adj" fmla="val 9231"/>
            </a:avLst>
          </a:prstGeom>
          <a:solidFill>
            <a:srgbClr val="E8A33D"/>
          </a:solidFill>
          <a:ln w="12700">
            <a:solidFill>
              <a:srgbClr val="1230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41605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  (Batch)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383280" y="4160520"/>
            <a:ext cx="2194560" cy="594360"/>
          </a:xfrm>
          <a:prstGeom prst="roundRect">
            <a:avLst>
              <a:gd name="adj" fmla="val 9231"/>
            </a:avLst>
          </a:prstGeom>
          <a:solidFill>
            <a:srgbClr val="E8A33D"/>
          </a:solidFill>
          <a:ln w="12700">
            <a:solidFill>
              <a:srgbClr val="1230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41605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POSTGRAD  (Thesis_Topic)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 flipV="1">
            <a:off x="2103120" y="3840480"/>
            <a:ext cx="1188720" cy="617220"/>
          </a:xfrm>
          <a:prstGeom prst="line">
            <a:avLst/>
          </a:prstGeom>
          <a:noFill/>
          <a:ln w="19050">
            <a:solidFill>
              <a:srgbClr val="5B748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3840480"/>
            <a:ext cx="1188720" cy="617220"/>
          </a:xfrm>
          <a:prstGeom prst="line">
            <a:avLst/>
          </a:prstGeom>
          <a:noFill/>
          <a:ln w="19050">
            <a:solidFill>
              <a:srgbClr val="5B748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5166360"/>
            <a:ext cx="10698480" cy="1051560"/>
          </a:xfrm>
          <a:prstGeom prst="roundRect">
            <a:avLst>
              <a:gd name="adj" fmla="val 8696"/>
            </a:avLst>
          </a:prstGeom>
          <a:solidFill>
            <a:srgbClr val="E1EEF4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52852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23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&amp; Total constraint:  </a:t>
            </a:r>
            <a:r>
              <a:rPr lang="en-US" sz="1200" dirty="0">
                <a:solidFill>
                  <a:srgbClr val="5B7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PERSON at the university is either a STUDENT or an EMPLOYEE, never both — and every PERSON must fall into one of the two categories, illustrating a total, disjoint specialization.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CSA05 | CO1 – DBMS Architecture, Data Models &amp; ER/EER Design | Technical Presentation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pic>
        <p:nvPicPr>
          <p:cNvPr id="38" name="object 6">
            <a:extLst>
              <a:ext uri="{FF2B5EF4-FFF2-40B4-BE49-F238E27FC236}">
                <a16:creationId xmlns:a16="http://schemas.microsoft.com/office/drawing/2014/main" id="{6BB37A8D-BEA8-9E70-CA43-0AC1CE50DC4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168" y="114613"/>
            <a:ext cx="1005840" cy="891227"/>
          </a:xfrm>
          <a:prstGeom prst="rect">
            <a:avLst/>
          </a:prstGeom>
        </p:spPr>
      </p:pic>
      <p:pic>
        <p:nvPicPr>
          <p:cNvPr id="40" name="object 7">
            <a:extLst>
              <a:ext uri="{FF2B5EF4-FFF2-40B4-BE49-F238E27FC236}">
                <a16:creationId xmlns:a16="http://schemas.microsoft.com/office/drawing/2014/main" id="{6F21DDBC-613E-0F1C-A257-56B62832E57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02073" y="107064"/>
            <a:ext cx="1050887" cy="8905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06240"/>
            <a:ext cx="4206240" cy="4206240"/>
          </a:xfrm>
          <a:prstGeom prst="ellipse">
            <a:avLst/>
          </a:prstGeom>
          <a:solidFill>
            <a:srgbClr val="1C7293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40259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EER Model Matters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A2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1773936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and specialization let a schema reuse common attributes instead of repeating them.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852928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A2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25880" y="279806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Subclasses inherit every attribute and relationship of their superclass automatically.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877056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77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A2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25880" y="382219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such as disjoint/overlapping and total/partial define exactly how instances are categorized.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901184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901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A2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25880" y="4846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hierarchy shows how PERSON, STUDENT, EMPLOYEE, FACULTY and STAFF form one connected model.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606247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1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modeling keeps complex, real-world hierarchies both accurate and easy to extend.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CSA05 | CO1 – DBMS Architecture, Data Models &amp; ER/EER Design | Technical Presentation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pic>
        <p:nvPicPr>
          <p:cNvPr id="21" name="object 6">
            <a:extLst>
              <a:ext uri="{FF2B5EF4-FFF2-40B4-BE49-F238E27FC236}">
                <a16:creationId xmlns:a16="http://schemas.microsoft.com/office/drawing/2014/main" id="{A979D4BA-605A-F5DF-1145-D5B47ADD7E0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168" y="114613"/>
            <a:ext cx="1005840" cy="891227"/>
          </a:xfrm>
          <a:prstGeom prst="rect">
            <a:avLst/>
          </a:prstGeom>
        </p:spPr>
      </p:pic>
      <p:pic>
        <p:nvPicPr>
          <p:cNvPr id="23" name="object 7">
            <a:extLst>
              <a:ext uri="{FF2B5EF4-FFF2-40B4-BE49-F238E27FC236}">
                <a16:creationId xmlns:a16="http://schemas.microsoft.com/office/drawing/2014/main" id="{85018CD2-7372-B6D0-B818-8AE1EB42483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02073" y="107064"/>
            <a:ext cx="1050887" cy="8905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480</Words>
  <Application>Microsoft Office PowerPoint</Application>
  <PresentationFormat>Widescreen</PresentationFormat>
  <Paragraphs>64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jashwanth raghu</cp:lastModifiedBy>
  <cp:revision>2</cp:revision>
  <dcterms:created xsi:type="dcterms:W3CDTF">2026-07-21T13:32:35Z</dcterms:created>
  <dcterms:modified xsi:type="dcterms:W3CDTF">2026-07-23T03:14:14Z</dcterms:modified>
</cp:coreProperties>
</file>